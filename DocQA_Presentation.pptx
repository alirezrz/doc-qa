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4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2706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8496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00" dirty="0" smtClean="0">
                <a:solidFill>
                  <a:srgbClr val="1ABC9C"/>
                </a:solidFill>
              </a:rPr>
              <a:t>Developed by </a:t>
            </a:r>
            <a:r>
              <a:rPr lang="en-US" sz="1600" b="1" kern="0" spc="300" dirty="0" err="1" smtClean="0">
                <a:solidFill>
                  <a:srgbClr val="1ABC9C"/>
                </a:solidFill>
              </a:rPr>
              <a:t>Alireza</a:t>
            </a:r>
            <a:r>
              <a:rPr lang="en-US" sz="1600" b="1" kern="0" spc="300" dirty="0" smtClean="0">
                <a:solidFill>
                  <a:srgbClr val="1ABC9C"/>
                </a:solidFill>
              </a:rPr>
              <a:t> </a:t>
            </a:r>
            <a:r>
              <a:rPr lang="en-US" sz="1600" b="1" kern="0" spc="300" dirty="0" err="1" smtClean="0">
                <a:solidFill>
                  <a:srgbClr val="1ABC9C"/>
                </a:solidFill>
              </a:rPr>
              <a:t>Rezaei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Doc-QA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65760" y="1965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Question Answering System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2926080" cy="36576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2880360"/>
            <a:ext cx="1508760" cy="34747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8803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Django 4.2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29968" y="2880360"/>
            <a:ext cx="1508760" cy="34747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0" name="Text 8"/>
          <p:cNvSpPr/>
          <p:nvPr/>
        </p:nvSpPr>
        <p:spPr>
          <a:xfrm>
            <a:off x="2029968" y="28803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LangChain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94176" y="2880360"/>
            <a:ext cx="1508760" cy="34747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2" name="Text 10"/>
          <p:cNvSpPr/>
          <p:nvPr/>
        </p:nvSpPr>
        <p:spPr>
          <a:xfrm>
            <a:off x="3694176" y="28803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Docker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58384" y="2880360"/>
            <a:ext cx="1508760" cy="34747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4" name="Text 12"/>
          <p:cNvSpPr/>
          <p:nvPr/>
        </p:nvSpPr>
        <p:spPr>
          <a:xfrm>
            <a:off x="5358384" y="28803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RAG Pipeline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22592" y="2880360"/>
            <a:ext cx="1508760" cy="34747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6" name="Text 14"/>
          <p:cNvSpPr/>
          <p:nvPr/>
        </p:nvSpPr>
        <p:spPr>
          <a:xfrm>
            <a:off x="7022592" y="28803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Hybrid Search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F8C8D"/>
                </a:solidFill>
              </a:rPr>
              <a:t>RAG · BM25 · Semantic Chunking · RRF Fusion · OpenRouter LLM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the Project Asked For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6908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069080" cy="384048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Mandatory Requirements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164592" cy="164592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833"/>
                </a:solidFill>
              </a:rPr>
              <a:t>Django as web framework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039112"/>
            <a:ext cx="164592" cy="164592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933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833"/>
                </a:solidFill>
              </a:rPr>
              <a:t>Docker for deployment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569464"/>
            <a:ext cx="164592" cy="164592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5237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833"/>
                </a:solidFill>
              </a:rPr>
              <a:t>LangChain for LLM integration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99816"/>
            <a:ext cx="164592" cy="164592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540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833"/>
                </a:solidFill>
              </a:rPr>
              <a:t>Full usable REST API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630168"/>
            <a:ext cx="164592" cy="164592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5844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833"/>
                </a:solidFill>
              </a:rPr>
              <a:t>Django Admin as UI (no separate frontend)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00600" y="960120"/>
            <a:ext cx="406908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960120"/>
            <a:ext cx="4069080" cy="38404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96012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Expected Capabilities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83480" y="1508760"/>
            <a:ext cx="137160" cy="13716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1" name="Text 19"/>
          <p:cNvSpPr/>
          <p:nvPr/>
        </p:nvSpPr>
        <p:spPr>
          <a:xfrm>
            <a:off x="5193792" y="14721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Add, edit &amp; delete documents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83480" y="1906524"/>
            <a:ext cx="137160" cy="13716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3" name="Text 21"/>
          <p:cNvSpPr/>
          <p:nvPr/>
        </p:nvSpPr>
        <p:spPr>
          <a:xfrm>
            <a:off x="5193792" y="18699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Support .docx file format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83480" y="2304288"/>
            <a:ext cx="137160" cy="13716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5" name="Text 23"/>
          <p:cNvSpPr/>
          <p:nvPr/>
        </p:nvSpPr>
        <p:spPr>
          <a:xfrm>
            <a:off x="5193792" y="22677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Store full document text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83480" y="2702052"/>
            <a:ext cx="137160" cy="13716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7" name="Text 25"/>
          <p:cNvSpPr/>
          <p:nvPr/>
        </p:nvSpPr>
        <p:spPr>
          <a:xfrm>
            <a:off x="5193792" y="26654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Submit questions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83480" y="3099816"/>
            <a:ext cx="137160" cy="13716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9" name="Text 27"/>
          <p:cNvSpPr/>
          <p:nvPr/>
        </p:nvSpPr>
        <p:spPr>
          <a:xfrm>
            <a:off x="5193792" y="30632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Find relevant content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83480" y="3497580"/>
            <a:ext cx="137160" cy="13716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31" name="Text 29"/>
          <p:cNvSpPr/>
          <p:nvPr/>
        </p:nvSpPr>
        <p:spPr>
          <a:xfrm>
            <a:off x="5193792" y="34610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Advanced document retrieval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83480" y="3895344"/>
            <a:ext cx="137160" cy="13716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33" name="Text 31"/>
          <p:cNvSpPr/>
          <p:nvPr/>
        </p:nvSpPr>
        <p:spPr>
          <a:xfrm>
            <a:off x="5193792" y="38587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Generate text answers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83480" y="4293108"/>
            <a:ext cx="137160" cy="13716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35" name="Text 33"/>
          <p:cNvSpPr/>
          <p:nvPr/>
        </p:nvSpPr>
        <p:spPr>
          <a:xfrm>
            <a:off x="5193792" y="42565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Store Q&amp;A history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60120"/>
            <a:ext cx="4114800" cy="41148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1 — Indexing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1371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F8C8D"/>
                </a:solidFill>
              </a:rPr>
              <a:t>Happens once on upload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7472" y="1755648"/>
            <a:ext cx="256032" cy="256032"/>
          </a:xfrm>
          <a:prstGeom prst="ellipse">
            <a:avLst/>
          </a:prstGeom>
          <a:solidFill>
            <a:srgbClr val="1B4F8A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17465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</a:rPr>
              <a:t>Upload .docx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240280"/>
            <a:ext cx="256032" cy="256032"/>
          </a:xfrm>
          <a:prstGeom prst="ellipse">
            <a:avLst/>
          </a:prstGeom>
          <a:solidFill>
            <a:srgbClr val="1B4F8A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22311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</a:rPr>
              <a:t>Extract text + heading structure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2724912"/>
            <a:ext cx="256032" cy="256032"/>
          </a:xfrm>
          <a:prstGeom prst="ellipse">
            <a:avLst/>
          </a:prstGeom>
          <a:solidFill>
            <a:srgbClr val="1B4F8A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2724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" y="2715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</a:rPr>
              <a:t>Semantic &amp; structure-aware chunking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3209544"/>
            <a:ext cx="256032" cy="256032"/>
          </a:xfrm>
          <a:prstGeom prst="ellipse">
            <a:avLst/>
          </a:prstGeom>
          <a:solidFill>
            <a:srgbClr val="1B4F8A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3209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</a:rPr>
              <a:t>Embed chunks → 384-dim vectors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3694176"/>
            <a:ext cx="256032" cy="256032"/>
          </a:xfrm>
          <a:prstGeom prst="ellipse">
            <a:avLst/>
          </a:prstGeom>
          <a:solidFill>
            <a:srgbClr val="1B4F8A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3694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" y="3685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</a:rPr>
              <a:t>Compute BM25 term frequencies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4178808"/>
            <a:ext cx="256032" cy="256032"/>
          </a:xfrm>
          <a:prstGeom prst="ellipse">
            <a:avLst/>
          </a:prstGeom>
          <a:solidFill>
            <a:srgbClr val="1B4F8A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" y="4178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41696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</a:rPr>
              <a:t>Persist to SQLite database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96012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960120"/>
            <a:ext cx="4114800" cy="4114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2 — Querying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1371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F8C8D"/>
                </a:solidFill>
              </a:rPr>
              <a:t>Happens on every question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10912" y="1709928"/>
            <a:ext cx="256032" cy="256032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31" name="Text 29"/>
          <p:cNvSpPr/>
          <p:nvPr/>
        </p:nvSpPr>
        <p:spPr>
          <a:xfrm>
            <a:off x="5010912" y="1709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21808" y="17099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Receive question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10912" y="2130552"/>
            <a:ext cx="256032" cy="256032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34" name="Text 32"/>
          <p:cNvSpPr/>
          <p:nvPr/>
        </p:nvSpPr>
        <p:spPr>
          <a:xfrm>
            <a:off x="5010912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21808" y="21305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Embed question → vector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10912" y="2551176"/>
            <a:ext cx="256032" cy="256032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37" name="Text 35"/>
          <p:cNvSpPr/>
          <p:nvPr/>
        </p:nvSpPr>
        <p:spPr>
          <a:xfrm>
            <a:off x="5010912" y="2551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21808" y="25511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Dense search (cosine similarity)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10912" y="2971800"/>
            <a:ext cx="256032" cy="256032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40" name="Text 38"/>
          <p:cNvSpPr/>
          <p:nvPr/>
        </p:nvSpPr>
        <p:spPr>
          <a:xfrm>
            <a:off x="5010912" y="2971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21808" y="29718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Sparse search (BM25 scoring)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10912" y="3392424"/>
            <a:ext cx="256032" cy="256032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43" name="Text 41"/>
          <p:cNvSpPr/>
          <p:nvPr/>
        </p:nvSpPr>
        <p:spPr>
          <a:xfrm>
            <a:off x="5010912" y="3392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21808" y="33924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Fuse rankings with RRF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010912" y="3813048"/>
            <a:ext cx="256032" cy="256032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46" name="Text 44"/>
          <p:cNvSpPr/>
          <p:nvPr/>
        </p:nvSpPr>
        <p:spPr>
          <a:xfrm>
            <a:off x="5010912" y="3813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21808" y="38130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Send top-4 chunks + question to LLM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010912" y="4233672"/>
            <a:ext cx="256032" cy="256032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49" name="Text 47"/>
          <p:cNvSpPr/>
          <p:nvPr/>
        </p:nvSpPr>
        <p:spPr>
          <a:xfrm>
            <a:off x="5010912" y="4233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321808" y="42336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Return answer + source attribution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297680" y="2926080"/>
            <a:ext cx="54864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dash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Project Structure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062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4206240" cy="41148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60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documents/  —  Ingestion App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54864" cy="201168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087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models.py — Document + DocumentChunk (stores text, embeddings, BM25)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130552"/>
            <a:ext cx="54864" cy="201168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1031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processing.py — Full pipeline: extract → chunk → embed → save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724912"/>
            <a:ext cx="54864" cy="201168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6974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signals.py — Triggers pipeline automatically on upload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319272"/>
            <a:ext cx="54864" cy="201168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2918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views.py — Full CRUD API (ModelViewSet)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960120"/>
            <a:ext cx="42062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960120"/>
            <a:ext cx="4206240" cy="4114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960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qa/  —  Query App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46320" y="1536192"/>
            <a:ext cx="54864" cy="20116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5087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pipeline.py — Hybrid retrieval + LLM generation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130552"/>
            <a:ext cx="54864" cy="20116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1031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models.py — QAHistory (persists every Q&amp;A + source docs)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2724912"/>
            <a:ext cx="54864" cy="20116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26974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admin.py — Ask a Question page in Django Admin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319272"/>
            <a:ext cx="54864" cy="20116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2918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views.py — POST /api/ask/  ·  GET /api/history/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" y="4389120"/>
            <a:ext cx="26060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28600" y="4389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</a:rPr>
              <a:t>core/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</a:rPr>
              <a:t>Django config, settings, URLs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4389120"/>
            <a:ext cx="26060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91840" y="4389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</a:rPr>
              <a:t>templates/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</a:rPr>
              <a:t>Django Admin custom pages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09360" y="4389120"/>
            <a:ext cx="26060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09360" y="4389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</a:rPr>
              <a:t>Dockerfile + docker-compose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</a:rPr>
              <a:t>One-command deployment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Smart Chunking — From Naive to Semantic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114800" cy="3657600"/>
          </a:xfrm>
          <a:prstGeom prst="rect">
            <a:avLst/>
          </a:prstGeom>
          <a:solidFill>
            <a:srgbClr val="FEF9E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411480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Before — Naive Fixed-Size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</a:rPr>
              <a:t>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14904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</a:rPr>
              <a:t>Split every 500 words — no matter what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039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</a:rPr>
              <a:t>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202082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</a:rPr>
              <a:t>Can break mid-sentence or mid-topic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</a:rPr>
              <a:t>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255117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</a:rPr>
              <a:t>Mixes two unrelated subjects in one chunk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3099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</a:rPr>
              <a:t>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308152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</a:rPr>
              <a:t>Ignores document headings entirely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3630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</a:rPr>
              <a:t>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" y="3611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</a:rPr>
              <a:t>Poor retrieval quality as a result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960120"/>
            <a:ext cx="4114800" cy="3657600"/>
          </a:xfrm>
          <a:prstGeom prst="rect">
            <a:avLst/>
          </a:prstGeom>
          <a:solidFill>
            <a:srgbClr val="EAFAF1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960120"/>
            <a:ext cx="4114800" cy="41148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After — Semantic + Structural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15087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8449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30368" y="1490472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833"/>
                </a:solidFill>
              </a:rPr>
              <a:t>Structural signal: </a:t>
            </a:r>
            <a:r>
              <a:rPr lang="en-US" sz="1100" dirty="0">
                <a:solidFill>
                  <a:srgbClr val="1C2833"/>
                </a:solidFill>
              </a:rPr>
              <a:t>Heading detected → always split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56048" y="203911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8449"/>
                </a:solidFill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30368" y="2020824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833"/>
                </a:solidFill>
              </a:rPr>
              <a:t>Semantic signal: </a:t>
            </a:r>
            <a:r>
              <a:rPr lang="en-US" sz="1100" dirty="0">
                <a:solidFill>
                  <a:srgbClr val="1C2833"/>
                </a:solidFill>
              </a:rPr>
              <a:t>Cosine similarity drops below 0.45 → split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56048" y="25694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8449"/>
                </a:solidFill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30368" y="2551176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833"/>
                </a:solidFill>
              </a:rPr>
              <a:t>Size safety net: </a:t>
            </a:r>
            <a:r>
              <a:rPr lang="en-US" sz="1100" dirty="0">
                <a:solidFill>
                  <a:srgbClr val="1C2833"/>
                </a:solidFill>
              </a:rPr>
              <a:t>Chunk exceeds 600 words → force split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56048" y="309981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8449"/>
                </a:solidFill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30368" y="3081528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833"/>
                </a:solidFill>
              </a:rPr>
              <a:t>Result: </a:t>
            </a:r>
            <a:r>
              <a:rPr lang="en-US" sz="1100" dirty="0">
                <a:solidFill>
                  <a:srgbClr val="1C2833"/>
                </a:solidFill>
              </a:rPr>
              <a:t>Each chunk = one coherent topic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56048" y="36301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8449"/>
                </a:solidFill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30368" y="3611880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833"/>
                </a:solidFill>
              </a:rPr>
              <a:t>Benefit: </a:t>
            </a:r>
            <a:r>
              <a:rPr lang="en-US" sz="1100" dirty="0">
                <a:solidFill>
                  <a:srgbClr val="1C2833"/>
                </a:solidFill>
              </a:rPr>
              <a:t>Better retrieval, more accurate answers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Hybrid Search — Why Two Methods Beat 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83464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60120"/>
            <a:ext cx="2834640" cy="50292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9601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Dense Search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" y="1252728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6EAF8"/>
                </a:solidFill>
              </a:rPr>
              <a:t>Semantic Similarity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4F8A"/>
                </a:solidFill>
              </a:rPr>
              <a:t>Strength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81051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</a:rPr>
              <a:t>Finds paraphrases &amp; related ideas even with different words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578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0392B"/>
                </a:solidFill>
              </a:rPr>
              <a:t>Weakness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2788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</a:rPr>
              <a:t>Misses exact keywords — article numbers, names, codes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566160"/>
            <a:ext cx="2651760" cy="38404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35661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4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cos(question_vec, chunk_vec)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960120"/>
            <a:ext cx="283464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960120"/>
            <a:ext cx="2834640" cy="5029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9601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BM25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1252728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6EAF8"/>
                </a:solidFill>
              </a:rPr>
              <a:t>Keyword Scoring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16002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E86C1"/>
                </a:solidFill>
              </a:rPr>
              <a:t>Strength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37560" y="181051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</a:rPr>
              <a:t>Never misses an exact keyword match — names, codes, terms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578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0392B"/>
                </a:solidFill>
              </a:rPr>
              <a:t>Weakness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37560" y="2788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</a:rPr>
              <a:t>Fails when user paraphrases — zero score if no word overlap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566160"/>
            <a:ext cx="2651760" cy="38404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35661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Σ IDF(t) × TF_norm(t, chunk)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17920" y="960120"/>
            <a:ext cx="283464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960120"/>
            <a:ext cx="2834640" cy="5029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9601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RRF Fusion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1252728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6EAF8"/>
                </a:solidFill>
              </a:rPr>
              <a:t>Combined Ranking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5080" y="16002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BC9C"/>
                </a:solidFill>
              </a:rPr>
              <a:t>Strength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55080" y="181051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</a:rPr>
              <a:t>Best of both — chunks that rank high in BOTH methods win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2578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0392B"/>
                </a:solidFill>
              </a:rPr>
              <a:t>Weakness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55080" y="2788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</a:rPr>
              <a:t>Scale-free: works regardless of score magnitude differences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3566160"/>
            <a:ext cx="2651760" cy="38404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35661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RRF(d) = 1/(60+rank_dense) + 1/(60+rank_bm25)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Database Schema &amp; API Endpoints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11480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4114800" cy="384048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60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Database Models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481328"/>
            <a:ext cx="3858768" cy="25603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481328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Document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" y="1737360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197510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221284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" y="2450592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extracted_text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" y="268833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uploaded_at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3017520"/>
            <a:ext cx="3858768" cy="25603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301752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DocumentChunk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7472" y="3273552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351129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 (FK)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7472" y="3749040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472" y="398678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embedding_json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" y="422452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bm25_tf_json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472" y="4462272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chunk_index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4791456"/>
            <a:ext cx="3858768" cy="25603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4791456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QAHistory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7472" y="504748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472" y="5285232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question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7472" y="552297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answer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7472" y="5760720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sources (M2M)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7472" y="599846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created_at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960120"/>
            <a:ext cx="411480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960120"/>
            <a:ext cx="4114800" cy="38404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960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Endpoints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92040" y="1481328"/>
            <a:ext cx="658368" cy="23774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14813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POST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96128" y="14813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B4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/api/documents/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596128" y="17099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7F8C8D"/>
                </a:solidFill>
              </a:rPr>
              <a:t>Upload document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92040" y="1956816"/>
            <a:ext cx="658368" cy="23774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19568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96128" y="19568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B4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/api/documents/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596128" y="21854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7F8C8D"/>
                </a:solidFill>
              </a:rPr>
              <a:t>List documents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92040" y="2432304"/>
            <a:ext cx="658368" cy="23774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243230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596128" y="24323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B4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/api/documents/{id}/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596128" y="26609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7F8C8D"/>
                </a:solidFill>
              </a:rPr>
              <a:t>Get document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92040" y="2907792"/>
            <a:ext cx="658368" cy="23774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5" name="Text 43"/>
          <p:cNvSpPr/>
          <p:nvPr/>
        </p:nvSpPr>
        <p:spPr>
          <a:xfrm>
            <a:off x="4892040" y="29077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PUT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596128" y="29077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B4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/api/documents/{id}/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596128" y="31363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7F8C8D"/>
                </a:solidFill>
              </a:rPr>
              <a:t>Update document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92040" y="3383280"/>
            <a:ext cx="658368" cy="23774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9" name="Text 47"/>
          <p:cNvSpPr/>
          <p:nvPr/>
        </p:nvSpPr>
        <p:spPr>
          <a:xfrm>
            <a:off x="4892040" y="33832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DELETE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596128" y="33832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B4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/api/documents/{id}/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596128" y="36118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7F8C8D"/>
                </a:solidFill>
              </a:rPr>
              <a:t>Delete document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892040" y="3858768"/>
            <a:ext cx="658368" cy="23774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3" name="Text 51"/>
          <p:cNvSpPr/>
          <p:nvPr/>
        </p:nvSpPr>
        <p:spPr>
          <a:xfrm>
            <a:off x="4892040" y="38587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POST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596128" y="38587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B4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/api/ask/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596128" y="40873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7F8C8D"/>
                </a:solidFill>
              </a:rPr>
              <a:t>Ask a question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92040" y="4334256"/>
            <a:ext cx="658368" cy="23774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7" name="Text 55"/>
          <p:cNvSpPr/>
          <p:nvPr/>
        </p:nvSpPr>
        <p:spPr>
          <a:xfrm>
            <a:off x="4892040" y="433425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596128" y="43342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B4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/api/history/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596128" y="45628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7F8C8D"/>
                </a:solidFill>
              </a:rPr>
              <a:t>View Q&amp;A history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Docker — One Command to Run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8686800" cy="59436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--build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01168" y="1709928"/>
            <a:ext cx="2816352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709928"/>
            <a:ext cx="2816352" cy="384048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" y="1709928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" y="2212848"/>
            <a:ext cx="128016" cy="128016"/>
          </a:xfrm>
          <a:prstGeom prst="ellipse">
            <a:avLst/>
          </a:prstGeom>
          <a:solidFill>
            <a:srgbClr val="1B4F8A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17627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</a:rPr>
              <a:t>Base: python:3.11-slim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" y="2715768"/>
            <a:ext cx="128016" cy="128016"/>
          </a:xfrm>
          <a:prstGeom prst="ellipse">
            <a:avLst/>
          </a:prstGeom>
          <a:solidFill>
            <a:srgbClr val="1B4F8A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67919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</a:rPr>
              <a:t>Installs all dependencies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" y="3218688"/>
            <a:ext cx="128016" cy="128016"/>
          </a:xfrm>
          <a:prstGeom prst="ellipse">
            <a:avLst/>
          </a:prstGeom>
          <a:solidFill>
            <a:srgbClr val="1B4F8A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318211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</a:rPr>
              <a:t>Pre-downloads MiniLM model (~90MB) at build 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" y="3721608"/>
            <a:ext cx="128016" cy="128016"/>
          </a:xfrm>
          <a:prstGeom prst="ellipse">
            <a:avLst/>
          </a:prstGeom>
          <a:solidFill>
            <a:srgbClr val="1B4F8A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68503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</a:rPr>
              <a:t>Creates media/ and data/ directories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" y="4224528"/>
            <a:ext cx="128016" cy="128016"/>
          </a:xfrm>
          <a:prstGeom prst="ellipse">
            <a:avLst/>
          </a:prstGeom>
          <a:solidFill>
            <a:srgbClr val="1B4F8A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418795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</a:rPr>
              <a:t>Runs migrate then starts server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1709928"/>
            <a:ext cx="2816352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709928"/>
            <a:ext cx="2816352" cy="38404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1709928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37560" y="2212848"/>
            <a:ext cx="128016" cy="128016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3" name="Text 21"/>
          <p:cNvSpPr/>
          <p:nvPr/>
        </p:nvSpPr>
        <p:spPr>
          <a:xfrm>
            <a:off x="3529584" y="217627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</a:rPr>
              <a:t>Defines the web service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2715768"/>
            <a:ext cx="128016" cy="128016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5" name="Text 23"/>
          <p:cNvSpPr/>
          <p:nvPr/>
        </p:nvSpPr>
        <p:spPr>
          <a:xfrm>
            <a:off x="3529584" y="267919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</a:rPr>
              <a:t>Maps port 8000 → 8000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3218688"/>
            <a:ext cx="128016" cy="128016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7" name="Text 25"/>
          <p:cNvSpPr/>
          <p:nvPr/>
        </p:nvSpPr>
        <p:spPr>
          <a:xfrm>
            <a:off x="3529584" y="318211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</a:rPr>
              <a:t>Passes .env variables into container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37560" y="3721608"/>
            <a:ext cx="128016" cy="128016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9" name="Text 27"/>
          <p:cNvSpPr/>
          <p:nvPr/>
        </p:nvSpPr>
        <p:spPr>
          <a:xfrm>
            <a:off x="3529584" y="368503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</a:rPr>
              <a:t>sqlite_data volume → DB survives restarts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4224528"/>
            <a:ext cx="128016" cy="128016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31" name="Text 29"/>
          <p:cNvSpPr/>
          <p:nvPr/>
        </p:nvSpPr>
        <p:spPr>
          <a:xfrm>
            <a:off x="3529584" y="418795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</a:rPr>
              <a:t>media_data volume → uploads survive restarts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99632" y="1709928"/>
            <a:ext cx="2816352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99632" y="1709928"/>
            <a:ext cx="2816352" cy="38404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4" name="Text 32"/>
          <p:cNvSpPr/>
          <p:nvPr/>
        </p:nvSpPr>
        <p:spPr>
          <a:xfrm>
            <a:off x="6199632" y="1709928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.dockerignore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36792" y="2212848"/>
            <a:ext cx="128016" cy="128016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36" name="Text 34"/>
          <p:cNvSpPr/>
          <p:nvPr/>
        </p:nvSpPr>
        <p:spPr>
          <a:xfrm>
            <a:off x="6528816" y="217627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</a:rPr>
              <a:t>Excludes venv/ (huge, not needed)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36792" y="2715768"/>
            <a:ext cx="128016" cy="128016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38" name="Text 36"/>
          <p:cNvSpPr/>
          <p:nvPr/>
        </p:nvSpPr>
        <p:spPr>
          <a:xfrm>
            <a:off x="6528816" y="267919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</a:rPr>
              <a:t>Excludes .env (secrets stay local)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36792" y="3218688"/>
            <a:ext cx="128016" cy="128016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40" name="Text 38"/>
          <p:cNvSpPr/>
          <p:nvPr/>
        </p:nvSpPr>
        <p:spPr>
          <a:xfrm>
            <a:off x="6528816" y="318211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</a:rPr>
              <a:t>Excludes db.sqlite3 (container has its own)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36792" y="3721608"/>
            <a:ext cx="128016" cy="128016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42" name="Text 40"/>
          <p:cNvSpPr/>
          <p:nvPr/>
        </p:nvSpPr>
        <p:spPr>
          <a:xfrm>
            <a:off x="6528816" y="368503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</a:rPr>
              <a:t>Excludes __pycache__ and .git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36792" y="4224528"/>
            <a:ext cx="128016" cy="128016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44" name="Text 42"/>
          <p:cNvSpPr/>
          <p:nvPr/>
        </p:nvSpPr>
        <p:spPr>
          <a:xfrm>
            <a:off x="6528816" y="418795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833"/>
                </a:solidFill>
              </a:rPr>
              <a:t>Keeps image small and clean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</a:t>
            </a:r>
            <a:r>
              <a:rPr lang="en-US" sz="2800" b="1" dirty="0" smtClean="0">
                <a:solidFill>
                  <a:srgbClr val="FFFFFF"/>
                </a:solidFill>
              </a:rPr>
              <a:t>I have Built 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0" cy="36576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914400"/>
          </a:xfrm>
          <a:prstGeom prst="rect">
            <a:avLst/>
          </a:prstGeom>
          <a:solidFill>
            <a:srgbClr val="1B4F8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109728" cy="9144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Full RAG Pipeline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6276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CCE3"/>
                </a:solidFill>
              </a:rPr>
              <a:t>Two-phase: index on upload, retrieve on query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4023360" cy="914400"/>
          </a:xfrm>
          <a:prstGeom prst="rect">
            <a:avLst/>
          </a:prstGeom>
          <a:solidFill>
            <a:srgbClr val="1B4F8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86000"/>
            <a:ext cx="109728" cy="9144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Semantic Chunking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7249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CCE3"/>
                </a:solidFill>
              </a:rPr>
              <a:t>Structure-aware + cosine similarity between paragraphs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383280"/>
            <a:ext cx="4023360" cy="914400"/>
          </a:xfrm>
          <a:prstGeom prst="rect">
            <a:avLst/>
          </a:prstGeom>
          <a:solidFill>
            <a:srgbClr val="1B4F8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383280"/>
            <a:ext cx="109728" cy="9144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Hybrid Search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38221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CCE3"/>
                </a:solidFill>
              </a:rPr>
              <a:t>Dense embeddings + BM25 + RRF fusion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4023360" cy="914400"/>
          </a:xfrm>
          <a:prstGeom prst="rect">
            <a:avLst/>
          </a:prstGeom>
          <a:solidFill>
            <a:srgbClr val="1B4F8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188720"/>
            <a:ext cx="109728" cy="9144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9" name="Text 17"/>
          <p:cNvSpPr/>
          <p:nvPr/>
        </p:nvSpPr>
        <p:spPr>
          <a:xfrm>
            <a:off x="4956048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Django Admin UI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56048" y="16276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CCE3"/>
                </a:solidFill>
              </a:rPr>
              <a:t>Ask questions directly from the admin panel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286000"/>
            <a:ext cx="4023360" cy="914400"/>
          </a:xfrm>
          <a:prstGeom prst="rect">
            <a:avLst/>
          </a:prstGeom>
          <a:solidFill>
            <a:srgbClr val="1B4F8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286000"/>
            <a:ext cx="109728" cy="9144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3" name="Text 21"/>
          <p:cNvSpPr/>
          <p:nvPr/>
        </p:nvSpPr>
        <p:spPr>
          <a:xfrm>
            <a:off x="4956048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REST API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56048" y="27249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CCE3"/>
                </a:solidFill>
              </a:rPr>
              <a:t>7 endpoints — full document lifecycle + Q&amp;A + history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383280"/>
            <a:ext cx="4023360" cy="914400"/>
          </a:xfrm>
          <a:prstGeom prst="rect">
            <a:avLst/>
          </a:prstGeom>
          <a:solidFill>
            <a:srgbClr val="1B4F8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383280"/>
            <a:ext cx="109728" cy="9144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7" name="Text 25"/>
          <p:cNvSpPr/>
          <p:nvPr/>
        </p:nvSpPr>
        <p:spPr>
          <a:xfrm>
            <a:off x="4956048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Docker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56048" y="38221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CCE3"/>
                </a:solidFill>
              </a:rPr>
              <a:t>One command to build and run the entire system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1ABC9C"/>
                </a:solidFill>
              </a:rPr>
              <a:t>Thank you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792</Words>
  <Application>Microsoft Office PowerPoint</Application>
  <PresentationFormat>On-screen Show (16:9)</PresentationFormat>
  <Paragraphs>204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Doc-QA — Document Question Answering System</dc:title>
  <dc:subject>PptxGenJS Presentation</dc:subject>
  <dc:creator>PptxGenJS</dc:creator>
  <cp:lastModifiedBy>User</cp:lastModifiedBy>
  <cp:revision>3</cp:revision>
  <dcterms:created xsi:type="dcterms:W3CDTF">2026-06-07T15:10:06Z</dcterms:created>
  <dcterms:modified xsi:type="dcterms:W3CDTF">2026-06-07T15:32:23Z</dcterms:modified>
</cp:coreProperties>
</file>